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405" r:id="rId2"/>
    <p:sldId id="343" r:id="rId3"/>
    <p:sldId id="337" r:id="rId4"/>
    <p:sldId id="324" r:id="rId5"/>
    <p:sldId id="368" r:id="rId6"/>
    <p:sldId id="380" r:id="rId7"/>
    <p:sldId id="320" r:id="rId8"/>
    <p:sldId id="4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8CA0"/>
    <a:srgbClr val="E3E5EB"/>
    <a:srgbClr val="7F91A8"/>
    <a:srgbClr val="061C39"/>
    <a:srgbClr val="0C3666"/>
    <a:srgbClr val="0B3769"/>
    <a:srgbClr val="0B2F5C"/>
    <a:srgbClr val="092950"/>
    <a:srgbClr val="175CD4"/>
    <a:srgbClr val="EB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4"/>
    <p:restoredTop sz="94658"/>
  </p:normalViewPr>
  <p:slideViewPr>
    <p:cSldViewPr snapToGrid="0">
      <p:cViewPr>
        <p:scale>
          <a:sx n="108" d="100"/>
          <a:sy n="108" d="100"/>
        </p:scale>
        <p:origin x="1000" y="352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7124-F8CA-347A-0678-FABF4CDD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FA537-2E8A-E63B-2A10-F8B6C3C44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53A34-4BEB-63FE-927F-417402BA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3342-2BCD-C92C-BF0A-C17A2A2E3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027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33D595-D536-F91A-1EBD-961A72E0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624725BD-C1A3-C864-986D-8BDBA7597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948DD72F-53C5-5253-AE71-FDF8BF033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60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5D400-7154-3113-3C83-44228E6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37" y="1850746"/>
            <a:ext cx="9448800" cy="2491490"/>
          </a:xfrm>
        </p:spPr>
        <p:txBody>
          <a:bodyPr>
            <a:noAutofit/>
          </a:bodyPr>
          <a:lstStyle/>
          <a:p>
            <a:r>
              <a:rPr lang="en-US" sz="6500">
                <a:solidFill>
                  <a:schemeClr val="accent3"/>
                </a:solidFill>
                <a:latin typeface="Helvetica Neue"/>
              </a:rPr>
              <a:t>Sentinel</a:t>
            </a:r>
            <a:br>
              <a:rPr lang="en-US" sz="6500">
                <a:solidFill>
                  <a:schemeClr val="accent3"/>
                </a:solidFill>
                <a:latin typeface="Helvetica Neue"/>
              </a:rPr>
            </a:br>
            <a:r>
              <a:rPr lang="en-US" sz="6500">
                <a:solidFill>
                  <a:schemeClr val="accent3"/>
                </a:solidFill>
                <a:latin typeface="Helvetica Neue"/>
              </a:rPr>
              <a:t>Fraud Intelligence</a:t>
            </a:r>
            <a:endParaRPr lang="en-US" sz="6500" dirty="0">
              <a:solidFill>
                <a:schemeClr val="accent3"/>
              </a:solidFill>
              <a:latin typeface="Helvetica Neue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5170707"/>
            <a:ext cx="3568700" cy="647700"/>
          </a:xfrm>
        </p:spPr>
        <p:txBody>
          <a:bodyPr>
            <a:noAutofit/>
          </a:bodyPr>
          <a:lstStyle/>
          <a:p>
            <a:r>
              <a:rPr lang="en-GB" sz="1800">
                <a:solidFill>
                  <a:schemeClr val="bg2">
                    <a:lumMod val="75000"/>
                  </a:schemeClr>
                </a:solidFill>
                <a:latin typeface="Helvetica Neue"/>
              </a:rPr>
              <a:t>Explainable credit card fraud</a:t>
            </a:r>
          </a:p>
          <a:p>
            <a:r>
              <a:rPr lang="en-GB" sz="1800">
                <a:solidFill>
                  <a:schemeClr val="bg2">
                    <a:lumMod val="75000"/>
                  </a:schemeClr>
                </a:solidFill>
                <a:latin typeface="Helvetica Neue"/>
              </a:rPr>
              <a:t>Investigation workflow</a:t>
            </a:r>
            <a:endParaRPr lang="en-US" sz="1800" dirty="0">
              <a:solidFill>
                <a:schemeClr val="accent3"/>
              </a:solidFill>
              <a:latin typeface="Helvetica Neue"/>
            </a:endParaRP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 txBox="1">
            <a:spLocks/>
          </p:cNvSpPr>
          <p:nvPr/>
        </p:nvSpPr>
        <p:spPr>
          <a:xfrm>
            <a:off x="4370789" y="5170707"/>
            <a:ext cx="3568700" cy="647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2">
                    <a:lumMod val="75000"/>
                  </a:schemeClr>
                </a:solidFill>
                <a:latin typeface="Helvetica Neue"/>
              </a:rPr>
              <a:t>ML experiments</a:t>
            </a:r>
          </a:p>
          <a:p>
            <a:r>
              <a:rPr lang="en-US" sz="1800">
                <a:solidFill>
                  <a:schemeClr val="bg2">
                    <a:lumMod val="75000"/>
                  </a:schemeClr>
                </a:solidFill>
                <a:latin typeface="Helvetica Neue"/>
              </a:rPr>
              <a:t>Streamlit application</a:t>
            </a:r>
            <a:endParaRPr lang="en-US" sz="1800" dirty="0">
              <a:solidFill>
                <a:schemeClr val="accent3"/>
              </a:solidFill>
              <a:latin typeface="Helvetica Neue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 txBox="1">
            <a:spLocks/>
          </p:cNvSpPr>
          <p:nvPr/>
        </p:nvSpPr>
        <p:spPr>
          <a:xfrm>
            <a:off x="8608228" y="623595"/>
            <a:ext cx="3199235" cy="647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800">
                <a:solidFill>
                  <a:srgbClr val="EDF5FE">
                    <a:alpha val="50000"/>
                  </a:srgbClr>
                </a:solidFill>
                <a:latin typeface="Helvetica Neue"/>
              </a:rPr>
              <a:t>PROJECT OVERVIEW</a:t>
            </a:r>
            <a:endParaRPr lang="en-US" sz="1800" dirty="0">
              <a:solidFill>
                <a:srgbClr val="EDF5FE">
                  <a:alpha val="50000"/>
                </a:srgbClr>
              </a:solidFill>
              <a:latin typeface="Helvetica Neue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 txBox="1">
            <a:spLocks/>
          </p:cNvSpPr>
          <p:nvPr/>
        </p:nvSpPr>
        <p:spPr>
          <a:xfrm>
            <a:off x="393700" y="623595"/>
            <a:ext cx="55372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>
                <a:solidFill>
                  <a:srgbClr val="EDF5FE">
                    <a:alpha val="50000"/>
                  </a:srgbClr>
                </a:solidFill>
                <a:latin typeface="Helvetica Neue"/>
              </a:rPr>
              <a:t>SENTINEL</a:t>
            </a:r>
            <a:endParaRPr lang="en-US" sz="1800" dirty="0">
              <a:solidFill>
                <a:srgbClr val="EDF5FE">
                  <a:alpha val="50000"/>
                </a:srgbClr>
              </a:solidFill>
              <a:latin typeface="Helvetica Neue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3541DF-62D6-F009-9571-E33DA1DCB2B4}"/>
              </a:ext>
            </a:extLst>
          </p:cNvPr>
          <p:cNvCxnSpPr/>
          <p:nvPr/>
        </p:nvCxnSpPr>
        <p:spPr>
          <a:xfrm>
            <a:off x="384537" y="374574"/>
            <a:ext cx="11422926" cy="0"/>
          </a:xfrm>
          <a:prstGeom prst="line">
            <a:avLst/>
          </a:prstGeom>
          <a:ln>
            <a:solidFill>
              <a:srgbClr val="7A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4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Original transaction rows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Fraud share after cleaning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Exact duplicates removed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627943"/>
          </a:xfrm>
        </p:spPr>
        <p:txBody>
          <a:bodyPr/>
          <a:lstStyle/>
          <a:p>
            <a:r>
              <a:rPr lang="en-GB">
                <a:latin typeface="Helvetica Neue"/>
              </a:rPr>
              <a:t>Fraud data and class imbalance</a:t>
            </a:r>
            <a:endParaRPr lang="en-US" dirty="0">
              <a:latin typeface="Helvetica Neue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284,807</a:t>
            </a:r>
            <a:endParaRPr lang="en-US" sz="5200" dirty="0">
              <a:latin typeface="Helvetica Neue" panose="02000503000000020004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0.167%</a:t>
            </a:r>
            <a:endParaRPr lang="en-US" sz="5200" dirty="0">
              <a:latin typeface="Helvetica Neue" panose="02000503000000020004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1,081</a:t>
            </a:r>
            <a:endParaRPr lang="en-US" sz="5200" dirty="0">
              <a:latin typeface="Helvetica Neue" panose="02000503000000020004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WHY THIS IS HARD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Fraud is rare. Accuracy alone could hide a model that misses every fraud case.</a:t>
            </a:r>
            <a:endParaRPr lang="en-US" sz="18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Clean and split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Remove duplicates. Train on the earlier half.</a:t>
            </a:r>
            <a:endParaRPr lang="en-US"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 lang="en-GB">
                <a:latin typeface="Helvetica Neue" panose="02000503000000020004"/>
              </a:rPr>
              <a:t>How I built the model</a:t>
            </a:r>
            <a:endParaRPr lang="en-US" dirty="0">
              <a:latin typeface="Helvetica Neue" panose="02000503000000020004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Establish baselines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Logistic Regression, Naive Bayes, XGBoost.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Tune XGBoost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GroupKFold and held-out fold scores set 0.97.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01  PREPARE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02  COMPARE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03  REFINE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Logistic Regression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90.05% recall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5,744 false alerts</a:t>
            </a:r>
            <a:endParaRPr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Naive Bayes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82.46% recall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3,434 false alerts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XGBoost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78.67% recall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72 false alerts</a:t>
            </a:r>
            <a:endParaRPr lang="en-US" sz="1800" dirty="0">
              <a:latin typeface="Helvetica Neue" panose="02000503000000020004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Helvetica Neue" panose="02000503000000020004"/>
              </a:rPr>
              <a:t>Baseline comparison</a:t>
            </a:r>
            <a:endParaRPr dirty="0">
              <a:latin typeface="Helvetica Neue" panose="020005030000000200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 txBox="1">
            <a:spLocks/>
          </p:cNvSpPr>
          <p:nvPr/>
        </p:nvSpPr>
        <p:spPr>
          <a:xfrm>
            <a:off x="393700" y="1796192"/>
            <a:ext cx="11404599" cy="12264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classifiers caught fraud, but their false alerts created very different review workloads.</a:t>
            </a:r>
            <a:endParaRPr lang="en-US" sz="18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4</a:t>
            </a:r>
            <a:endParaRPr lang="en-US" sz="1100" dirty="0"/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 txBox="1">
            <a:spLocks/>
          </p:cNvSpPr>
          <p:nvPr/>
        </p:nvSpPr>
        <p:spPr>
          <a:xfrm>
            <a:off x="400939" y="1384301"/>
            <a:ext cx="11404599" cy="2312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b="1" spc="100">
                <a:solidFill>
                  <a:schemeClr val="accent1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RECORDED TEST PARTITION</a:t>
            </a:r>
            <a:endParaRPr lang="en-US" sz="1200" b="1" spc="100" dirty="0">
              <a:solidFill>
                <a:schemeClr val="accent1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8F0C-BADB-C0D8-10DE-FF8B011F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9448800" cy="1047491"/>
          </a:xfrm>
        </p:spPr>
        <p:txBody>
          <a:bodyPr/>
          <a:lstStyle/>
          <a:p>
            <a:r>
              <a:rPr lang="en-US">
                <a:latin typeface="Helvetica Neue" panose="02000503000000020004"/>
              </a:rPr>
              <a:t>Final model results</a:t>
            </a:r>
            <a:endParaRPr lang="en-US" dirty="0">
              <a:latin typeface="Helvetica Neue" panose="02000503000000020004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/>
          <p:nvPr/>
        </p:nvSpPr>
        <p:spPr>
          <a:xfrm>
            <a:off x="393700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 txBox="1">
            <a:spLocks/>
          </p:cNvSpPr>
          <p:nvPr/>
        </p:nvSpPr>
        <p:spPr>
          <a:xfrm>
            <a:off x="631052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79.90%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7670" y="4782848"/>
            <a:ext cx="2066698" cy="61595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Precision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/>
          <p:nvPr/>
        </p:nvSpPr>
        <p:spPr>
          <a:xfrm>
            <a:off x="3345905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 txBox="1">
            <a:spLocks/>
          </p:cNvSpPr>
          <p:nvPr/>
        </p:nvSpPr>
        <p:spPr>
          <a:xfrm>
            <a:off x="3583257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75.36%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Content Placeholder 15">
            <a:extLst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 txBox="1">
            <a:spLocks/>
          </p:cNvSpPr>
          <p:nvPr/>
        </p:nvSpPr>
        <p:spPr>
          <a:xfrm>
            <a:off x="3649875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Recall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/>
          <p:nvPr/>
        </p:nvSpPr>
        <p:spPr>
          <a:xfrm>
            <a:off x="6271986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 txBox="1">
            <a:spLocks/>
          </p:cNvSpPr>
          <p:nvPr/>
        </p:nvSpPr>
        <p:spPr>
          <a:xfrm>
            <a:off x="6509338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0.7821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 txBox="1">
            <a:spLocks/>
          </p:cNvSpPr>
          <p:nvPr/>
        </p:nvSpPr>
        <p:spPr>
          <a:xfrm>
            <a:off x="6575956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Average precision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/>
          <p:nvPr/>
        </p:nvSpPr>
        <p:spPr>
          <a:xfrm>
            <a:off x="9224191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 txBox="1">
            <a:spLocks/>
          </p:cNvSpPr>
          <p:nvPr/>
        </p:nvSpPr>
        <p:spPr>
          <a:xfrm>
            <a:off x="9461543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0.7756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 txBox="1">
            <a:spLocks/>
          </p:cNvSpPr>
          <p:nvPr/>
        </p:nvSpPr>
        <p:spPr>
          <a:xfrm>
            <a:off x="9528161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F1 score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 txBox="1">
            <a:spLocks/>
          </p:cNvSpPr>
          <p:nvPr/>
        </p:nvSpPr>
        <p:spPr>
          <a:xfrm>
            <a:off x="6258427" y="193889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Saved decision threshold: 0.97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40 legitimate rows flagged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 txBox="1">
            <a:spLocks/>
          </p:cNvSpPr>
          <p:nvPr/>
        </p:nvSpPr>
        <p:spPr>
          <a:xfrm>
            <a:off x="391027" y="193889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141,863 later test transactions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159 frauds flagged; 52 missed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74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Helvetica Neue" panose="02000503000000020004"/>
              </a:rPr>
              <a:t>Sentinel investigation workflow</a:t>
            </a:r>
            <a:endParaRPr dirty="0">
              <a:latin typeface="Helvetica Neue" panose="02000503000000020004"/>
            </a:endParaRP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Counts, flags, score distribution, review progress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Overview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GB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Filter scored rows and select a transaction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Explorer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GB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Inspect SHAP, reference bands, then log a decision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Investigate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GB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Review the benchmark and open the learning notebook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Model evidence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9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One saved XGBoost model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9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Compatible CSVs or a curated sample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9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Human decisions stay separate from scores.</a:t>
            </a:r>
            <a:endParaRPr lang="en-US" sz="19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E8B0-1451-F532-31F1-40A867C4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11838" cy="519592"/>
          </a:xfrm>
        </p:spPr>
        <p:txBody>
          <a:bodyPr/>
          <a:lstStyle/>
          <a:p>
            <a:r>
              <a:rPr lang="en-GB">
                <a:latin typeface="Helvetica Neue" panose="02000503000000020004"/>
              </a:rPr>
              <a:t>Three cases make errors visible</a:t>
            </a:r>
            <a:endParaRPr lang="en-US" dirty="0">
              <a:latin typeface="Helvetica Neue" panose="02000503000000020004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365499"/>
            <a:ext cx="2949339" cy="1981201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True positive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TXN-000421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Fraud. Score near 100%.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Flagged.</a:t>
            </a:r>
            <a:endParaRPr lang="en-US" sz="1600" dirty="0">
              <a:latin typeface="Helvetica Neue" panose="02000503000000020004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False positive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TXN-000201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Legitimate. Score near 100%.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Flagged.</a:t>
            </a:r>
            <a:endParaRPr lang="en-US" sz="1600" dirty="0">
              <a:latin typeface="Helvetica Neue" panose="020005030000000200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False negative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TXN-000409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Fraud. Score 92.08%.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Below 97% threshold.</a:t>
            </a:r>
            <a:endParaRPr lang="en-US" sz="1600" dirty="0">
              <a:latin typeface="Helvetica Neue" panose="02000503000000020004"/>
            </a:endParaRPr>
          </a:p>
        </p:txBody>
      </p:sp>
      <p:sp>
        <p:nvSpPr>
          <p:cNvPr id="2" name="Google Shape;303;p29">
            <a:extLst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/>
          <p:nvPr/>
        </p:nvSpPr>
        <p:spPr>
          <a:xfrm>
            <a:off x="8549658" y="2759697"/>
            <a:ext cx="230437" cy="256014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Google Shape;304;p29">
            <a:extLst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/>
          <p:nvPr/>
        </p:nvSpPr>
        <p:spPr>
          <a:xfrm>
            <a:off x="4632459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Google Shape;305;p29">
            <a:extLst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/>
          <p:nvPr/>
        </p:nvSpPr>
        <p:spPr>
          <a:xfrm>
            <a:off x="693808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 txBox="1">
            <a:spLocks/>
          </p:cNvSpPr>
          <p:nvPr/>
        </p:nvSpPr>
        <p:spPr>
          <a:xfrm>
            <a:off x="400939" y="1037594"/>
            <a:ext cx="11404599" cy="1047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curated sample overrepresents fraud and model errors. It does not reflect real prevalence. Scores are not calibrated probabilities.</a:t>
            </a:r>
            <a:endParaRPr lang="en-US" sz="18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E3F5CCB-83E1-E66E-1C80-EC9EB6E8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2374900"/>
            <a:ext cx="5537200" cy="36195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159 of 211 frauds detected.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GB" sz="180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79.90% of flags were correct.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GB" sz="180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SHAP labels follow the fitted feature order.</a:t>
            </a:r>
            <a:endParaRPr lang="en-US"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GB">
                <a:latin typeface="Helvetica Neue" panose="02000503000000020004"/>
              </a:rPr>
              <a:t>Evidence, limits, and the next study</a:t>
            </a:r>
            <a:endParaRPr dirty="0">
              <a:latin typeface="Helvetica Neue" panose="02000503000000020004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 txBox="1">
            <a:spLocks/>
          </p:cNvSpPr>
          <p:nvPr/>
        </p:nvSpPr>
        <p:spPr>
          <a:xfrm>
            <a:off x="400939" y="1810684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100" normalizeH="0" baseline="0" noProof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WHAT THE TEST SHOWS</a:t>
            </a:r>
            <a:endParaRPr kumimoji="0" lang="en-US" sz="1500" b="1" i="0" u="none" strike="noStrike" kern="1200" cap="none" spc="100" normalizeH="0" baseline="0" noProof="0" dirty="0">
              <a:ln>
                <a:noFill/>
              </a:ln>
              <a:solidFill>
                <a:srgbClr val="175CD4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9" name="Google Shape;534;p58">
            <a:extLst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 txBox="1">
            <a:spLocks/>
          </p:cNvSpPr>
          <p:nvPr/>
        </p:nvSpPr>
        <p:spPr>
          <a:xfrm>
            <a:off x="6257290" y="2374900"/>
            <a:ext cx="5537200" cy="36195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test partition influenced development.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GroupKFold did not preserve chronology.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Next: a fresh temporal holdout and calibration study.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 txBox="1">
            <a:spLocks/>
          </p:cNvSpPr>
          <p:nvPr/>
        </p:nvSpPr>
        <p:spPr>
          <a:xfrm>
            <a:off x="6264529" y="1810684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100" normalizeH="0" baseline="0" noProof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WHAT I WOULD IMPROVE</a:t>
            </a:r>
            <a:endParaRPr kumimoji="0" lang="en-US" sz="1500" b="1" i="0" u="none" strike="noStrike" kern="1200" cap="none" spc="100" normalizeH="0" baseline="0" noProof="0" dirty="0">
              <a:ln>
                <a:noFill/>
              </a:ln>
              <a:solidFill>
                <a:srgbClr val="175CD4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364</Words>
  <Application>Microsoft Office PowerPoint</Application>
  <PresentationFormat>Widescreen</PresentationFormat>
  <Paragraphs>98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Helvetica Neue</vt:lpstr>
      <vt:lpstr>OpenAI Sans</vt:lpstr>
      <vt:lpstr>Default Codex Theme</vt:lpstr>
      <vt:lpstr>Sentinel Fraud Intelligence</vt:lpstr>
      <vt:lpstr>Fraud data and class imbalance</vt:lpstr>
      <vt:lpstr>How I built the model</vt:lpstr>
      <vt:lpstr>Baseline comparison</vt:lpstr>
      <vt:lpstr>Final model results</vt:lpstr>
      <vt:lpstr>Sentinel investigation workflow</vt:lpstr>
      <vt:lpstr>Three cases make errors visible</vt:lpstr>
      <vt:lpstr>Evidence, limits, and the next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Dev Khanna</cp:lastModifiedBy>
  <cp:revision>1</cp:revision>
  <dcterms:modified xsi:type="dcterms:W3CDTF">2026-10-22T04:39:00Z</dcterms:modified>
</cp:coreProperties>
</file>