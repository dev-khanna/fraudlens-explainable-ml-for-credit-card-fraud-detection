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405" r:id="rId2"/>
    <p:sldId id="343" r:id="rId3"/>
    <p:sldId id="337" r:id="rId4"/>
    <p:sldId id="324" r:id="rId5"/>
    <p:sldId id="368" r:id="rId6"/>
    <p:sldId id="380" r:id="rId7"/>
    <p:sldId id="320" r:id="rId8"/>
    <p:sldId id="40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8CA0"/>
    <a:srgbClr val="E3E5EB"/>
    <a:srgbClr val="7F91A8"/>
    <a:srgbClr val="061C39"/>
    <a:srgbClr val="0C3666"/>
    <a:srgbClr val="0B3769"/>
    <a:srgbClr val="0B2F5C"/>
    <a:srgbClr val="092950"/>
    <a:srgbClr val="175CD4"/>
    <a:srgbClr val="EBF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44"/>
    <p:restoredTop sz="94658"/>
  </p:normalViewPr>
  <p:slideViewPr>
    <p:cSldViewPr snapToGrid="0">
      <p:cViewPr>
        <p:scale>
          <a:sx n="108" d="100"/>
          <a:sy n="108" d="100"/>
        </p:scale>
        <p:origin x="1000" y="352"/>
      </p:cViewPr>
      <p:guideLst/>
    </p:cSldViewPr>
  </p:slideViewPr>
  <p:outlineViewPr>
    <p:cViewPr>
      <p:scale>
        <a:sx n="33" d="100"/>
        <a:sy n="33" d="100"/>
      </p:scale>
      <p:origin x="0" y="-2991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EC29E5-F646-1C4E-9C79-40608B34D03C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AAA0A2-FFE2-354C-9768-C35E42B625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176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C7124-F8CA-347A-0678-FABF4CDD8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FFA537-2E8A-E63B-2A10-F8B6C3C44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553A34-4BEB-63FE-927F-417402BA3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63342-2BCD-C92C-BF0A-C17A2A2E3A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AAA0A2-FFE2-354C-9768-C35E42B6251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30277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4833CCCF-3F9D-A618-80AB-3D4A5A75A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30FEAD63-73E6-6865-0563-39C87E4A2C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6AD55573-DB52-73E0-765A-E60EFC9024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935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60CE2AA9-1874-036A-44E5-EECCCF411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9C61A8DE-700A-3E09-7BFA-942599A37A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31654C7C-4234-E662-B28E-10CE52782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91519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>
          <a:extLst>
            <a:ext uri="{FF2B5EF4-FFF2-40B4-BE49-F238E27FC236}">
              <a16:creationId xmlns:a16="http://schemas.microsoft.com/office/drawing/2014/main" id="{E033D595-D536-F91A-1EBD-961A72E0A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1f2634f057_2_64:notes">
            <a:extLst>
              <a:ext uri="{FF2B5EF4-FFF2-40B4-BE49-F238E27FC236}">
                <a16:creationId xmlns:a16="http://schemas.microsoft.com/office/drawing/2014/main" id="{624725BD-C1A3-C864-986D-8BDBA75971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4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1f2634f057_2_64:notes">
            <a:extLst>
              <a:ext uri="{FF2B5EF4-FFF2-40B4-BE49-F238E27FC236}">
                <a16:creationId xmlns:a16="http://schemas.microsoft.com/office/drawing/2014/main" id="{948DD72F-53C5-5253-AE71-FDF8BF0336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1602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81485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53353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56618" y="2032000"/>
            <a:ext cx="55372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80732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2032000"/>
            <a:ext cx="35687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40011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4826000"/>
            <a:ext cx="2595934" cy="1168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966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64413" y="4826000"/>
            <a:ext cx="2595934" cy="1168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205679" y="4826000"/>
            <a:ext cx="2595934" cy="1168400"/>
          </a:xfrm>
        </p:spPr>
        <p:txBody>
          <a:bodyPr/>
          <a:lstStyle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>
            <a:pPr lvl="0"/>
            <a:r>
              <a:rPr lang="en-US" dirty="0"/>
              <a:t>Click to edit Master</a:t>
            </a:r>
          </a:p>
        </p:txBody>
      </p:sp>
    </p:spTree>
    <p:extLst>
      <p:ext uri="{BB962C8B-B14F-4D97-AF65-F5344CB8AC3E}">
        <p14:creationId xmlns:p14="http://schemas.microsoft.com/office/powerpoint/2010/main" val="97124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94105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sz="1100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11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8567941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2548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 Field Gr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7859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8 Field Gri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4799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lang="en-US" sz="9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574A810-7A8E-054F-9F6B-09E9C694ECF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855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9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48" userDrawn="1">
          <p15:clr>
            <a:srgbClr val="F26B43"/>
          </p15:clr>
        </p15:guide>
        <p15:guide id="4" pos="1264" userDrawn="1">
          <p15:clr>
            <a:srgbClr val="F26B43"/>
          </p15:clr>
        </p15:guide>
        <p15:guide id="5" pos="1480" userDrawn="1">
          <p15:clr>
            <a:srgbClr val="F26B43"/>
          </p15:clr>
        </p15:guide>
        <p15:guide id="6" pos="2496" userDrawn="1">
          <p15:clr>
            <a:srgbClr val="F26B43"/>
          </p15:clr>
        </p15:guide>
        <p15:guide id="7" pos="2712" userDrawn="1">
          <p15:clr>
            <a:srgbClr val="F26B43"/>
          </p15:clr>
        </p15:guide>
        <p15:guide id="8" pos="3736" userDrawn="1">
          <p15:clr>
            <a:srgbClr val="F26B43"/>
          </p15:clr>
        </p15:guide>
        <p15:guide id="9" pos="3944" userDrawn="1">
          <p15:clr>
            <a:srgbClr val="F26B43"/>
          </p15:clr>
        </p15:guide>
        <p15:guide id="10" pos="4968" userDrawn="1">
          <p15:clr>
            <a:srgbClr val="F26B43"/>
          </p15:clr>
        </p15:guide>
        <p15:guide id="11" pos="5184" userDrawn="1">
          <p15:clr>
            <a:srgbClr val="F26B43"/>
          </p15:clr>
        </p15:guide>
        <p15:guide id="12" pos="6200" userDrawn="1">
          <p15:clr>
            <a:srgbClr val="F26B43"/>
          </p15:clr>
        </p15:guide>
        <p15:guide id="13" pos="6416" userDrawn="1">
          <p15:clr>
            <a:srgbClr val="F26B43"/>
          </p15:clr>
        </p15:guide>
        <p15:guide id="14" pos="7432" userDrawn="1">
          <p15:clr>
            <a:srgbClr val="F26B43"/>
          </p15:clr>
        </p15:guide>
        <p15:guide id="15" orient="horz" userDrawn="1">
          <p15:clr>
            <a:srgbClr val="F26B43"/>
          </p15:clr>
        </p15:guide>
        <p15:guide id="17" orient="horz" pos="248" userDrawn="1">
          <p15:clr>
            <a:srgbClr val="F26B43"/>
          </p15:clr>
        </p15:guide>
        <p15:guide id="18" orient="horz" pos="656" userDrawn="1">
          <p15:clr>
            <a:srgbClr val="F26B43"/>
          </p15:clr>
        </p15:guide>
        <p15:guide id="19" orient="horz" pos="872" userDrawn="1">
          <p15:clr>
            <a:srgbClr val="F26B43"/>
          </p15:clr>
        </p15:guide>
        <p15:guide id="20" orient="horz" pos="1280" userDrawn="1">
          <p15:clr>
            <a:srgbClr val="F26B43"/>
          </p15:clr>
        </p15:guide>
        <p15:guide id="21" orient="horz" pos="1496" userDrawn="1">
          <p15:clr>
            <a:srgbClr val="F26B43"/>
          </p15:clr>
        </p15:guide>
        <p15:guide id="22" orient="horz" pos="1904" userDrawn="1">
          <p15:clr>
            <a:srgbClr val="F26B43"/>
          </p15:clr>
        </p15:guide>
        <p15:guide id="23" orient="horz" pos="2120" userDrawn="1">
          <p15:clr>
            <a:srgbClr val="F26B43"/>
          </p15:clr>
        </p15:guide>
        <p15:guide id="24" orient="horz" pos="2528" userDrawn="1">
          <p15:clr>
            <a:srgbClr val="F26B43"/>
          </p15:clr>
        </p15:guide>
        <p15:guide id="25" orient="horz" pos="2744" userDrawn="1">
          <p15:clr>
            <a:srgbClr val="F26B43"/>
          </p15:clr>
        </p15:guide>
        <p15:guide id="26" orient="horz" pos="3152" userDrawn="1">
          <p15:clr>
            <a:srgbClr val="F26B43"/>
          </p15:clr>
        </p15:guide>
        <p15:guide id="27" orient="horz" pos="3368" userDrawn="1">
          <p15:clr>
            <a:srgbClr val="F26B43"/>
          </p15:clr>
        </p15:guide>
        <p15:guide id="28" orient="horz" pos="3776" userDrawn="1">
          <p15:clr>
            <a:srgbClr val="F26B43"/>
          </p15:clr>
        </p15:guide>
        <p15:guide id="29" orient="horz" pos="40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E5D400-7154-3113-3C83-44228E6F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537" y="1850746"/>
            <a:ext cx="9448800" cy="2491490"/>
          </a:xfrm>
        </p:spPr>
        <p:txBody>
          <a:bodyPr>
            <a:noAutofit/>
          </a:bodyPr>
          <a:lstStyle/>
          <a:p>
            <a:r>
              <a:rPr lang="en-US" sz="6500">
                <a:solidFill>
                  <a:schemeClr val="accent3"/>
                </a:solidFill>
                <a:latin typeface="Helvetica Neue"/>
              </a:rPr>
              <a:t>FraudLens</a:t>
            </a:r>
            <a:br>
              <a:rPr lang="en-US" sz="6500">
                <a:solidFill>
                  <a:schemeClr val="accent3"/>
                </a:solidFill>
                <a:latin typeface="Helvetica Neue"/>
              </a:rPr>
            </a:br>
            <a:r>
              <a:rPr lang="en-US" sz="6500">
                <a:solidFill>
                  <a:schemeClr val="accent3"/>
                </a:solidFill>
                <a:latin typeface="Helvetica Neue"/>
              </a:rPr>
              <a:t/>
            </a:r>
            <a:endParaRPr lang="en-US" sz="6500" dirty="0">
              <a:solidFill>
                <a:schemeClr val="accent3"/>
              </a:solidFill>
              <a:latin typeface="Helvetica Neue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192" y="4297680"/>
            <a:ext cx="11064240" cy="822960"/>
          </a:xfrm>
        </p:spPr>
        <p:txBody>
          <a:bodyPr>
            <a:noAutofit/>
          </a:bodyPr>
          <a:lstStyle/>
          <a:p>
            <a:r>
              <a:rPr lang="en-GB" sz="2200">
                <a:solidFill>
                  <a:schemeClr val="bg2">
                    <a:lumMod val="75000"/>
                  </a:schemeClr>
                </a:solidFill>
                <a:latin typeface="Helvetica Neue"/>
              </a:rPr>
              <a:t>Explainable Machine Learning for Credit Card Fraud Detection &amp; Investigation</a:t>
            </a:r>
          </a:p>
          <a:p>
            <a:r>
              <a:rPr lang="en-GB" sz="2200">
                <a:solidFill>
                  <a:schemeClr val="bg2">
                    <a:lumMod val="75000"/>
                  </a:schemeClr>
                </a:solidFill>
                <a:latin typeface="Helvetica Neue"/>
              </a:rPr>
              <a:t/>
            </a:r>
            <a:endParaRPr lang="en-US" sz="2200" dirty="0">
              <a:solidFill>
                <a:schemeClr val="accent3"/>
              </a:solidFill>
              <a:latin typeface="Helvetica Neue"/>
            </a:endParaRPr>
          </a:p>
        </p:txBody>
      </p:sp>
      <p:sp>
        <p:nvSpPr>
          <p:cNvPr id="2" name="Subtitle 4">
            <a:extLst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 txBox="1">
            <a:spLocks/>
          </p:cNvSpPr>
          <p:nvPr/>
        </p:nvSpPr>
        <p:spPr>
          <a:xfrm>
            <a:off x="393192" y="5349240"/>
            <a:ext cx="11064240" cy="685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chemeClr val="bg2">
                    <a:lumMod val="75000"/>
                  </a:schemeClr>
                </a:solidFill>
                <a:latin typeface="Helvetica Neue"/>
              </a:rPr>
              <a:t>Detect, Explain and Review Suspicious Credit Card Transactions</a:t>
            </a:r>
          </a:p>
          <a:p>
            <a:r>
              <a:rPr lang="en-US" sz="1800">
                <a:solidFill>
                  <a:schemeClr val="bg2">
                    <a:lumMod val="75000"/>
                  </a:schemeClr>
                </a:solidFill>
                <a:latin typeface="Helvetica Neue"/>
              </a:rPr>
              <a:t/>
            </a:r>
            <a:endParaRPr lang="en-US" sz="1800" dirty="0">
              <a:solidFill>
                <a:schemeClr val="accent3"/>
              </a:solidFill>
              <a:latin typeface="Helvetica Neue"/>
            </a:endParaRP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 txBox="1">
            <a:spLocks/>
          </p:cNvSpPr>
          <p:nvPr/>
        </p:nvSpPr>
        <p:spPr>
          <a:xfrm>
            <a:off x="8608228" y="623595"/>
            <a:ext cx="3199235" cy="6477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800">
                <a:solidFill>
                  <a:srgbClr val="EDF5FE">
                    <a:alpha val="50000"/>
                  </a:srgbClr>
                </a:solidFill>
                <a:latin typeface="Helvetica Neue"/>
              </a:rPr>
              <a:t>PROJECT OVERVIEW</a:t>
            </a:r>
            <a:endParaRPr lang="en-US" sz="1800" dirty="0">
              <a:solidFill>
                <a:srgbClr val="EDF5FE">
                  <a:alpha val="50000"/>
                </a:srgbClr>
              </a:solidFill>
              <a:latin typeface="Helvetica Neue"/>
            </a:endParaRP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 txBox="1">
            <a:spLocks/>
          </p:cNvSpPr>
          <p:nvPr/>
        </p:nvSpPr>
        <p:spPr>
          <a:xfrm>
            <a:off x="393700" y="623595"/>
            <a:ext cx="5537200" cy="64915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>
                <a:solidFill>
                  <a:srgbClr val="EDF5FE">
                    <a:alpha val="50000"/>
                  </a:srgbClr>
                </a:solidFill>
                <a:latin typeface="Helvetica Neue"/>
              </a:rPr>
              <a:t>FRAUDLENS</a:t>
            </a:r>
            <a:endParaRPr lang="en-US" sz="1800" dirty="0">
              <a:solidFill>
                <a:srgbClr val="EDF5FE">
                  <a:alpha val="50000"/>
                </a:srgbClr>
              </a:solidFill>
              <a:latin typeface="Helvetica Neue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3541DF-62D6-F009-9571-E33DA1DCB2B4}"/>
              </a:ext>
            </a:extLst>
          </p:cNvPr>
          <p:cNvCxnSpPr/>
          <p:nvPr/>
        </p:nvCxnSpPr>
        <p:spPr>
          <a:xfrm>
            <a:off x="384537" y="374574"/>
            <a:ext cx="11422926" cy="0"/>
          </a:xfrm>
          <a:prstGeom prst="line">
            <a:avLst/>
          </a:prstGeom>
          <a:ln>
            <a:solidFill>
              <a:srgbClr val="7A8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6947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36157-6036-D390-A3C9-CDC4590DA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595FF69-AA88-8653-2D13-3E0289A12A44}"/>
              </a:ext>
            </a:extLst>
          </p:cNvPr>
          <p:cNvSpPr/>
          <p:nvPr/>
        </p:nvSpPr>
        <p:spPr>
          <a:xfrm>
            <a:off x="393700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3AFD29D-9AD2-841D-0915-B4BDDC09C0B7}"/>
              </a:ext>
            </a:extLst>
          </p:cNvPr>
          <p:cNvSpPr/>
          <p:nvPr/>
        </p:nvSpPr>
        <p:spPr>
          <a:xfrm>
            <a:off x="4311650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10D6BE-4B8A-E31D-9AC6-AEB4FCD518B2}"/>
              </a:ext>
            </a:extLst>
          </p:cNvPr>
          <p:cNvSpPr/>
          <p:nvPr/>
        </p:nvSpPr>
        <p:spPr>
          <a:xfrm>
            <a:off x="8232297" y="3022600"/>
            <a:ext cx="3568700" cy="29718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8352425-466B-B7C0-4556-B12F3F4F6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1" y="3554174"/>
            <a:ext cx="2949339" cy="818677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Original transaction rows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D1B4876-C319-B371-36B9-745CADB662E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27681" y="3554174"/>
            <a:ext cx="2949339" cy="818677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Fraud share after cleaning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1BDFAF15-9B61-BA2E-0381-0DE8F578A81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541954" y="3554174"/>
            <a:ext cx="2949339" cy="818677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Exact duplicates removed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4EBD68-6C7C-E1E5-F754-A2CABD28D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627943"/>
          </a:xfrm>
        </p:spPr>
        <p:txBody>
          <a:bodyPr/>
          <a:lstStyle/>
          <a:p>
            <a:r>
              <a:rPr lang="en-GB">
                <a:latin typeface="Helvetica Neue"/>
              </a:rPr>
              <a:t>Fraud data and class imbalance</a:t>
            </a:r>
            <a:endParaRPr lang="en-US" dirty="0">
              <a:latin typeface="Helvetica Neue"/>
            </a:endParaRP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EDBA9068-3E52-4988-B608-4CED930E45CC}"/>
              </a:ext>
            </a:extLst>
          </p:cNvPr>
          <p:cNvSpPr txBox="1">
            <a:spLocks/>
          </p:cNvSpPr>
          <p:nvPr/>
        </p:nvSpPr>
        <p:spPr>
          <a:xfrm>
            <a:off x="702413" y="4356100"/>
            <a:ext cx="2940124" cy="12295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284,807</a:t>
            </a:r>
            <a:endParaRPr lang="en-US" sz="5200" dirty="0">
              <a:latin typeface="Helvetica Neue" panose="02000503000000020004"/>
            </a:endParaRP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53D01BD-BEDA-E1D7-8112-CCD78E0BB0D4}"/>
              </a:ext>
            </a:extLst>
          </p:cNvPr>
          <p:cNvSpPr txBox="1">
            <a:spLocks/>
          </p:cNvSpPr>
          <p:nvPr/>
        </p:nvSpPr>
        <p:spPr>
          <a:xfrm>
            <a:off x="4612932" y="4356100"/>
            <a:ext cx="2940124" cy="12295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0.167%</a:t>
            </a:r>
            <a:endParaRPr lang="en-US" sz="5200" dirty="0">
              <a:latin typeface="Helvetica Neue" panose="02000503000000020004"/>
            </a:endParaRP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5AE7C386-15B3-0C22-BD29-DB00B9F7FAA9}"/>
              </a:ext>
            </a:extLst>
          </p:cNvPr>
          <p:cNvSpPr txBox="1">
            <a:spLocks/>
          </p:cNvSpPr>
          <p:nvPr/>
        </p:nvSpPr>
        <p:spPr>
          <a:xfrm>
            <a:off x="8562362" y="4356100"/>
            <a:ext cx="2940124" cy="1229556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1,081</a:t>
            </a:r>
            <a:endParaRPr lang="en-US" sz="5200" dirty="0">
              <a:latin typeface="Helvetica Neue" panose="02000503000000020004"/>
            </a:endParaRP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45E38982-B0CA-BEBE-C656-B7F62835ADB0}"/>
              </a:ext>
            </a:extLst>
          </p:cNvPr>
          <p:cNvSpPr txBox="1">
            <a:spLocks/>
          </p:cNvSpPr>
          <p:nvPr/>
        </p:nvSpPr>
        <p:spPr>
          <a:xfrm>
            <a:off x="393700" y="1138300"/>
            <a:ext cx="11404599" cy="159940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1800">
                <a:solidFill>
                  <a:prstClr val="black"/>
                </a:solidFill>
                <a:latin typeface="Helvetica Neue" panose="02000503000000020004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WHY THIS IS HARD</a:t>
            </a:r>
          </a:p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1800">
                <a:solidFill>
                  <a:prstClr val="black"/>
                </a:solidFill>
                <a:latin typeface="Helvetica Neue" panose="02000503000000020004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Fraud is rare. Accuracy alone could hide a model that misses every fraud case.</a:t>
            </a:r>
            <a:endParaRPr lang="en-US" sz="18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2A6376E7-C0FC-2608-D121-2037E3C1CD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285ADF-608D-E057-1D6B-3F7AD8107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2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6961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9D4E6-CFF8-CAD9-A94E-1228D81E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0BCC789E-87DC-C416-5298-C7F6E26A9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3822700"/>
            <a:ext cx="2595934" cy="116840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8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Clean and split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GB" sz="18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Remove duplicates. Train on the earlier half.</a:t>
            </a:r>
            <a:endParaRPr lang="en-US" sz="18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759E2FE-9F02-E1B4-EBBC-AA8624ACC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7846838" cy="1034893"/>
          </a:xfrm>
        </p:spPr>
        <p:txBody>
          <a:bodyPr/>
          <a:lstStyle/>
          <a:p>
            <a:r>
              <a:rPr lang="en-GB">
                <a:latin typeface="Helvetica Neue" panose="02000503000000020004"/>
              </a:rPr>
              <a:t>How I built the model</a:t>
            </a:r>
            <a:endParaRPr lang="en-US" dirty="0">
              <a:latin typeface="Helvetica Neue" panose="02000503000000020004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86AEEE5-7F7B-65AD-1D88-9157CF0514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17119" y="3822700"/>
            <a:ext cx="2595934" cy="116840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Establish baselines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Logistic Regression, Naive Bayes, XGBoost.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B32A8A18-E9FA-02B4-6667-53C019EC43C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240538" y="3822700"/>
            <a:ext cx="2595934" cy="116840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Tune XGBoost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GroupKFold and held-out fold scores set 0.97.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cxnSp>
        <p:nvCxnSpPr>
          <p:cNvPr id="2" name="Google Shape;2259;p159">
            <a:extLst>
              <a:ext uri="{FF2B5EF4-FFF2-40B4-BE49-F238E27FC236}">
                <a16:creationId xmlns:a16="http://schemas.microsoft.com/office/drawing/2014/main" id="{B445FE4B-78BD-90F9-A6AA-1A4EF03DE791}"/>
              </a:ext>
            </a:extLst>
          </p:cNvPr>
          <p:cNvCxnSpPr>
            <a:stCxn id="3" idx="2"/>
          </p:cNvCxnSpPr>
          <p:nvPr/>
        </p:nvCxnSpPr>
        <p:spPr>
          <a:xfrm>
            <a:off x="337718" y="3373753"/>
            <a:ext cx="12245400" cy="3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39A86B1D-EA5D-3FA6-7D83-8F21D70E330E}"/>
              </a:ext>
            </a:extLst>
          </p:cNvPr>
          <p:cNvSpPr/>
          <p:nvPr/>
        </p:nvSpPr>
        <p:spPr>
          <a:xfrm>
            <a:off x="337718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A1013DAF-A2C3-BC42-73D5-9D8AB55DCA94}"/>
              </a:ext>
            </a:extLst>
          </p:cNvPr>
          <p:cNvSpPr/>
          <p:nvPr/>
        </p:nvSpPr>
        <p:spPr>
          <a:xfrm>
            <a:off x="42517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4654A74A-2C40-A8C6-E9F9-43C58A3ADE20}"/>
              </a:ext>
            </a:extLst>
          </p:cNvPr>
          <p:cNvSpPr/>
          <p:nvPr/>
        </p:nvSpPr>
        <p:spPr>
          <a:xfrm>
            <a:off x="8176050" y="332020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  <a:sym typeface="OpenAI Sans"/>
            </a:endParaRPr>
          </a:p>
        </p:txBody>
      </p:sp>
      <p:sp>
        <p:nvSpPr>
          <p:cNvPr id="9" name="Content Placeholder 15">
            <a:extLst>
              <a:ext uri="{FF2B5EF4-FFF2-40B4-BE49-F238E27FC236}">
                <a16:creationId xmlns:a16="http://schemas.microsoft.com/office/drawing/2014/main" id="{76C75857-E8EA-1B37-0464-3C7048D7FBEB}"/>
              </a:ext>
            </a:extLst>
          </p:cNvPr>
          <p:cNvSpPr txBox="1">
            <a:spLocks/>
          </p:cNvSpPr>
          <p:nvPr/>
        </p:nvSpPr>
        <p:spPr>
          <a:xfrm>
            <a:off x="393700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01  PREPARE</a:t>
            </a:r>
            <a:endParaRPr lang="en-US" sz="14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3" name="Content Placeholder 15">
            <a:extLst>
              <a:ext uri="{FF2B5EF4-FFF2-40B4-BE49-F238E27FC236}">
                <a16:creationId xmlns:a16="http://schemas.microsoft.com/office/drawing/2014/main" id="{76AEECBA-C292-6302-8A8E-7EB14A54E420}"/>
              </a:ext>
            </a:extLst>
          </p:cNvPr>
          <p:cNvSpPr txBox="1">
            <a:spLocks/>
          </p:cNvSpPr>
          <p:nvPr/>
        </p:nvSpPr>
        <p:spPr>
          <a:xfrm>
            <a:off x="4294187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02  COMPARE</a:t>
            </a:r>
            <a:endParaRPr lang="en-US" sz="14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95982BB0-2387-9BAA-9F14-F45500C04700}"/>
              </a:ext>
            </a:extLst>
          </p:cNvPr>
          <p:cNvSpPr txBox="1">
            <a:spLocks/>
          </p:cNvSpPr>
          <p:nvPr/>
        </p:nvSpPr>
        <p:spPr>
          <a:xfrm>
            <a:off x="8223249" y="2843266"/>
            <a:ext cx="1612900" cy="26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4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03  REFINE</a:t>
            </a:r>
            <a:endParaRPr lang="en-US" sz="14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AC3A10F-8642-8154-9AEA-7110D289C6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8054922-82AE-F5B4-3254-FF8E3B11A7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4633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7BF6385B-F2B3-709D-00BC-0FED7171D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3365500"/>
            <a:ext cx="3568700" cy="26289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Logistic Regression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90.05% recall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5,744 false alerts</a:t>
            </a:r>
            <a:endParaRPr sz="18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318000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Naive Bayes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82.46% recall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3,434 false alerts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232273" y="3365500"/>
            <a:ext cx="3568700" cy="2628900"/>
          </a:xfrm>
        </p:spPr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XGBoost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78.67% recall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72 false alerts</a:t>
            </a:r>
            <a:endParaRPr lang="en-US" sz="1800" dirty="0">
              <a:latin typeface="Helvetica Neue" panose="02000503000000020004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9"/>
            <a:ext cx="11404600" cy="6973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>
                <a:latin typeface="Helvetica Neue" panose="02000503000000020004"/>
              </a:rPr>
              <a:t>Baseline comparison</a:t>
            </a:r>
            <a:endParaRPr dirty="0">
              <a:latin typeface="Helvetica Neue" panose="020005030000000200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5" name="Content Placeholder 15">
            <a:extLst>
              <a:ext uri="{FF2B5EF4-FFF2-40B4-BE49-F238E27FC236}">
                <a16:creationId xmlns:a16="http://schemas.microsoft.com/office/drawing/2014/main" id="{158289AD-1712-2CAF-28F8-E7467196EFE6}"/>
              </a:ext>
            </a:extLst>
          </p:cNvPr>
          <p:cNvSpPr txBox="1">
            <a:spLocks/>
          </p:cNvSpPr>
          <p:nvPr/>
        </p:nvSpPr>
        <p:spPr>
          <a:xfrm>
            <a:off x="393700" y="1796192"/>
            <a:ext cx="11404599" cy="122640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18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classifiers caught fraud, but their false alerts created very different review workloads.</a:t>
            </a:r>
            <a:endParaRPr lang="en-US" sz="18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247B-DA8D-C673-F4EB-29EA73D17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4</a:t>
            </a:r>
            <a:endParaRPr lang="en-US" sz="1100" dirty="0"/>
          </a:p>
        </p:txBody>
      </p:sp>
      <p:sp>
        <p:nvSpPr>
          <p:cNvPr id="7" name="Content Placeholder 15">
            <a:extLst>
              <a:ext uri="{FF2B5EF4-FFF2-40B4-BE49-F238E27FC236}">
                <a16:creationId xmlns:a16="http://schemas.microsoft.com/office/drawing/2014/main" id="{FB0F357B-0D8A-9B45-94C6-994BA1F9A109}"/>
              </a:ext>
            </a:extLst>
          </p:cNvPr>
          <p:cNvSpPr txBox="1">
            <a:spLocks/>
          </p:cNvSpPr>
          <p:nvPr/>
        </p:nvSpPr>
        <p:spPr>
          <a:xfrm>
            <a:off x="400939" y="1384301"/>
            <a:ext cx="11404599" cy="2312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1200" b="1" spc="100">
                <a:solidFill>
                  <a:schemeClr val="accent1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RECORDED TEST PARTITION</a:t>
            </a:r>
            <a:endParaRPr lang="en-US" sz="1200" b="1" spc="100" dirty="0">
              <a:solidFill>
                <a:schemeClr val="accent1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38F0C-BADB-C0D8-10DE-FF8B011FA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9448800" cy="1047491"/>
          </a:xfrm>
        </p:spPr>
        <p:txBody>
          <a:bodyPr/>
          <a:lstStyle/>
          <a:p>
            <a:r>
              <a:rPr lang="en-US">
                <a:latin typeface="Helvetica Neue" panose="02000503000000020004"/>
              </a:rPr>
              <a:t>Final model results</a:t>
            </a:r>
            <a:endParaRPr lang="en-US" dirty="0">
              <a:latin typeface="Helvetica Neue" panose="02000503000000020004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/>
          <p:nvPr/>
        </p:nvSpPr>
        <p:spPr>
          <a:xfrm>
            <a:off x="393700" y="3074698"/>
            <a:ext cx="2581975" cy="2656541"/>
          </a:xfrm>
          <a:prstGeom prst="roundRect">
            <a:avLst>
              <a:gd name="adj" fmla="val 0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 txBox="1">
            <a:spLocks/>
          </p:cNvSpPr>
          <p:nvPr/>
        </p:nvSpPr>
        <p:spPr>
          <a:xfrm>
            <a:off x="631052" y="3294588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40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79.90%</a:t>
            </a:r>
            <a:endParaRPr lang="en-US" sz="40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97670" y="4782848"/>
            <a:ext cx="2066698" cy="615950"/>
          </a:xfrm>
        </p:spPr>
        <p:txBody>
          <a:bodyPr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7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Precision</a:t>
            </a:r>
            <a:endParaRPr lang="en-US" sz="17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/>
          <p:nvPr/>
        </p:nvSpPr>
        <p:spPr>
          <a:xfrm>
            <a:off x="3345905" y="3074698"/>
            <a:ext cx="2581975" cy="2656541"/>
          </a:xfrm>
          <a:prstGeom prst="roundRect">
            <a:avLst>
              <a:gd name="adj" fmla="val 0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ontent Placeholder 9">
            <a:extLst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 txBox="1">
            <a:spLocks/>
          </p:cNvSpPr>
          <p:nvPr/>
        </p:nvSpPr>
        <p:spPr>
          <a:xfrm>
            <a:off x="3583257" y="3294588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40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75.36%</a:t>
            </a:r>
            <a:endParaRPr lang="en-US" sz="40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6" name="Content Placeholder 15">
            <a:extLst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 txBox="1">
            <a:spLocks/>
          </p:cNvSpPr>
          <p:nvPr/>
        </p:nvSpPr>
        <p:spPr>
          <a:xfrm>
            <a:off x="3649875" y="4782848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7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Recall</a:t>
            </a:r>
            <a:endParaRPr lang="en-US" sz="17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/>
          <p:nvPr/>
        </p:nvSpPr>
        <p:spPr>
          <a:xfrm>
            <a:off x="6271986" y="3074698"/>
            <a:ext cx="2581975" cy="2656541"/>
          </a:xfrm>
          <a:prstGeom prst="roundRect">
            <a:avLst>
              <a:gd name="adj" fmla="val 0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Content Placeholder 9">
            <a:extLst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 txBox="1">
            <a:spLocks/>
          </p:cNvSpPr>
          <p:nvPr/>
        </p:nvSpPr>
        <p:spPr>
          <a:xfrm>
            <a:off x="6509338" y="3294588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40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0.7821</a:t>
            </a:r>
            <a:endParaRPr lang="en-US" sz="40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39" name="Content Placeholder 15">
            <a:extLst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 txBox="1">
            <a:spLocks/>
          </p:cNvSpPr>
          <p:nvPr/>
        </p:nvSpPr>
        <p:spPr>
          <a:xfrm>
            <a:off x="6575956" y="4782848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7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Average precision</a:t>
            </a:r>
            <a:endParaRPr lang="en-US" sz="17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/>
          <p:nvPr/>
        </p:nvSpPr>
        <p:spPr>
          <a:xfrm>
            <a:off x="9224191" y="3074698"/>
            <a:ext cx="2581975" cy="2656541"/>
          </a:xfrm>
          <a:prstGeom prst="roundRect">
            <a:avLst>
              <a:gd name="adj" fmla="val 0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ontent Placeholder 9">
            <a:extLst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 txBox="1">
            <a:spLocks/>
          </p:cNvSpPr>
          <p:nvPr/>
        </p:nvSpPr>
        <p:spPr>
          <a:xfrm>
            <a:off x="9461543" y="3294588"/>
            <a:ext cx="2133315" cy="90375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4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  <a:tabLst/>
              <a:defRPr/>
            </a:pPr>
            <a:r>
              <a:rPr kumimoji="0" lang="en-US" sz="40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0.7756</a:t>
            </a:r>
            <a:endParaRPr lang="en-US" sz="40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42" name="Content Placeholder 15">
            <a:extLst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 txBox="1">
            <a:spLocks/>
          </p:cNvSpPr>
          <p:nvPr/>
        </p:nvSpPr>
        <p:spPr>
          <a:xfrm>
            <a:off x="9528161" y="4782848"/>
            <a:ext cx="2066698" cy="6159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17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F1 score</a:t>
            </a:r>
            <a:endParaRPr lang="en-US" sz="17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 txBox="1">
            <a:spLocks/>
          </p:cNvSpPr>
          <p:nvPr/>
        </p:nvSpPr>
        <p:spPr>
          <a:xfrm>
            <a:off x="6258427" y="1938897"/>
            <a:ext cx="5539873" cy="990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17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Saved decision threshold: 0.97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17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40 legitimate rows flagged</a:t>
            </a:r>
            <a:endParaRPr lang="en-US" sz="17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713544-9BEE-5C18-38B2-3D7DD243F751}"/>
              </a:ext>
            </a:extLst>
          </p:cNvPr>
          <p:cNvSpPr txBox="1">
            <a:spLocks/>
          </p:cNvSpPr>
          <p:nvPr/>
        </p:nvSpPr>
        <p:spPr>
          <a:xfrm>
            <a:off x="391027" y="1938897"/>
            <a:ext cx="5539873" cy="990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17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141,863 later test transactions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17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159 frauds flagged; 52 missed</a:t>
            </a:r>
            <a:endParaRPr lang="en-US" sz="17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BC9C7-9694-DE21-B364-07358EFB8B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7332E9-E6BC-DD47-F254-482EEDAF5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5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1944D812-803F-DB18-EA01-C8287904B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7835900" cy="10474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US">
                <a:latin typeface="Helvetica Neue" panose="02000503000000020004"/>
              </a:rPr>
              <a:t>FraudLens investigation workflow</a:t>
            </a:r>
            <a:endParaRPr dirty="0">
              <a:latin typeface="Helvetica Neue" panose="02000503000000020004"/>
            </a:endParaRP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 txBox="1">
            <a:spLocks/>
          </p:cNvSpPr>
          <p:nvPr/>
        </p:nvSpPr>
        <p:spPr>
          <a:xfrm>
            <a:off x="6972300" y="23749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Counts, flags, score distribution, review progress</a:t>
            </a:r>
            <a:endParaRPr lang="en-US" sz="16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5" name="Content Placeholder 10">
            <a:extLst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 txBox="1">
            <a:spLocks/>
          </p:cNvSpPr>
          <p:nvPr/>
        </p:nvSpPr>
        <p:spPr>
          <a:xfrm>
            <a:off x="4851400" y="23749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schemeClr val="accent1"/>
                </a:solidFill>
                <a:latin typeface="Helvetica Neue" panose="02000503000000020004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Overview</a:t>
            </a:r>
            <a:endParaRPr lang="en-US" sz="1600" dirty="0">
              <a:solidFill>
                <a:schemeClr val="accent1"/>
              </a:solidFill>
              <a:latin typeface="Helvetica Neue" panose="02000503000000020004"/>
              <a:ea typeface="Helvetica Neue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 txBox="1">
            <a:spLocks/>
          </p:cNvSpPr>
          <p:nvPr/>
        </p:nvSpPr>
        <p:spPr>
          <a:xfrm>
            <a:off x="6972300" y="33655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GB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Filter scored rows and select a transaction</a:t>
            </a:r>
            <a:endParaRPr lang="en-US" sz="16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7" name="Content Placeholder 10">
            <a:extLst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 txBox="1">
            <a:spLocks/>
          </p:cNvSpPr>
          <p:nvPr/>
        </p:nvSpPr>
        <p:spPr>
          <a:xfrm>
            <a:off x="4851400" y="33655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schemeClr val="accent1"/>
                </a:solidFill>
                <a:latin typeface="Helvetica Neue" panose="02000503000000020004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Explorer</a:t>
            </a:r>
            <a:endParaRPr lang="en-US" sz="1600" dirty="0">
              <a:solidFill>
                <a:schemeClr val="accent1"/>
              </a:solidFill>
              <a:latin typeface="Helvetica Neue" panose="02000503000000020004"/>
              <a:ea typeface="Helvetica Neue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 txBox="1">
            <a:spLocks/>
          </p:cNvSpPr>
          <p:nvPr/>
        </p:nvSpPr>
        <p:spPr>
          <a:xfrm>
            <a:off x="6972300" y="43561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GB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Inspect SHAP, reference bands, then log a decision</a:t>
            </a:r>
            <a:endParaRPr lang="en-US" sz="16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9" name="Content Placeholder 10">
            <a:extLst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 txBox="1">
            <a:spLocks/>
          </p:cNvSpPr>
          <p:nvPr/>
        </p:nvSpPr>
        <p:spPr>
          <a:xfrm>
            <a:off x="4851400" y="43561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schemeClr val="accent1"/>
                </a:solidFill>
                <a:latin typeface="Helvetica Neue" panose="02000503000000020004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Investigate</a:t>
            </a:r>
            <a:endParaRPr lang="en-US" sz="1600" dirty="0">
              <a:solidFill>
                <a:schemeClr val="accent1"/>
              </a:solidFill>
              <a:latin typeface="Helvetica Neue" panose="02000503000000020004"/>
              <a:ea typeface="Helvetica Neue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 txBox="1">
            <a:spLocks/>
          </p:cNvSpPr>
          <p:nvPr/>
        </p:nvSpPr>
        <p:spPr>
          <a:xfrm>
            <a:off x="6972300" y="5359401"/>
            <a:ext cx="48260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GB" sz="16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Review the benchmark and open the learning notebook</a:t>
            </a:r>
            <a:endParaRPr lang="en-US" sz="16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1" name="Content Placeholder 10">
            <a:extLst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 txBox="1">
            <a:spLocks/>
          </p:cNvSpPr>
          <p:nvPr/>
        </p:nvSpPr>
        <p:spPr>
          <a:xfrm>
            <a:off x="4851400" y="5359401"/>
            <a:ext cx="1866900" cy="6477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/>
            </a:pPr>
            <a:r>
              <a:rPr lang="en-US" sz="1600">
                <a:solidFill>
                  <a:schemeClr val="accent1"/>
                </a:solidFill>
                <a:latin typeface="Helvetica Neue" panose="02000503000000020004"/>
                <a:ea typeface="Helvetica Neue Medium" panose="02000503000000020004" pitchFamily="2" charset="0"/>
                <a:cs typeface="Helvetica Neue Medium" panose="02000503000000020004" pitchFamily="2" charset="0"/>
                <a:sym typeface="OpenAI Sans"/>
              </a:rPr>
              <a:t>Model evidence</a:t>
            </a:r>
            <a:endParaRPr lang="en-US" sz="1600" dirty="0">
              <a:solidFill>
                <a:schemeClr val="accent1"/>
              </a:solidFill>
              <a:latin typeface="Helvetica Neue" panose="02000503000000020004"/>
              <a:ea typeface="Helvetica Neue Medium" panose="02000503000000020004" pitchFamily="2" charset="0"/>
              <a:cs typeface="Helvetica Neue Medium" panose="02000503000000020004" pitchFamily="2" charset="0"/>
              <a:sym typeface="OpenAI Sans"/>
            </a:endParaRPr>
          </a:p>
        </p:txBody>
      </p:sp>
      <p:sp>
        <p:nvSpPr>
          <p:cNvPr id="3" name="Google Shape;534;p58">
            <a:extLst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 txBox="1">
            <a:spLocks/>
          </p:cNvSpPr>
          <p:nvPr/>
        </p:nvSpPr>
        <p:spPr>
          <a:xfrm>
            <a:off x="393700" y="2374901"/>
            <a:ext cx="3568700" cy="3619499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19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One saved XGBoost model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19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Compatible CSVs or a curated sample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GB" sz="19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Human decisions stay separate from scores.</a:t>
            </a:r>
            <a:endParaRPr lang="en-US" sz="19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4523B68-CB58-F426-D824-531128F4CB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6686A-B9AA-33C7-DC98-7A7FF4AC8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6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0E8B0-1451-F532-31F1-40A867C4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05DDE8-F6E5-161D-9B9B-71916FAAD3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9"/>
            <a:ext cx="11411838" cy="519592"/>
          </a:xfrm>
        </p:spPr>
        <p:txBody>
          <a:bodyPr/>
          <a:lstStyle/>
          <a:p>
            <a:r>
              <a:rPr lang="en-GB">
                <a:latin typeface="Helvetica Neue" panose="02000503000000020004"/>
              </a:rPr>
              <a:t>Three cases make errors visible</a:t>
            </a:r>
            <a:endParaRPr lang="en-US" dirty="0">
              <a:latin typeface="Helvetica Neue" panose="02000503000000020004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/>
          <p:nvPr/>
        </p:nvSpPr>
        <p:spPr>
          <a:xfrm>
            <a:off x="393700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/>
          <p:nvPr/>
        </p:nvSpPr>
        <p:spPr>
          <a:xfrm>
            <a:off x="4311650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/>
          <p:nvPr/>
        </p:nvSpPr>
        <p:spPr>
          <a:xfrm>
            <a:off x="8232297" y="2374900"/>
            <a:ext cx="3568700" cy="3619500"/>
          </a:xfrm>
          <a:prstGeom prst="roundRect">
            <a:avLst>
              <a:gd name="adj" fmla="val 3585"/>
            </a:avLst>
          </a:prstGeom>
          <a:solidFill>
            <a:srgbClr val="F9FCFF"/>
          </a:solidFill>
          <a:ln>
            <a:solidFill>
              <a:srgbClr val="EFF1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381" y="3365499"/>
            <a:ext cx="2949339" cy="1981201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True positive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TXN-000421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Fraud. Score near 100%.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Flagged.</a:t>
            </a:r>
            <a:endParaRPr lang="en-US" sz="1600" dirty="0">
              <a:latin typeface="Helvetica Neue" panose="02000503000000020004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27681" y="3365499"/>
            <a:ext cx="2949339" cy="1981201"/>
          </a:xfrm>
        </p:spPr>
        <p:txBody>
          <a:bodyPr>
            <a:no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False positive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TXN-000201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Legitimate. Score near 100%.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US" sz="20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Flagged.</a:t>
            </a:r>
            <a:endParaRPr lang="en-US" sz="1600" dirty="0">
              <a:latin typeface="Helvetica Neue" panose="02000503000000020004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541954" y="3365499"/>
            <a:ext cx="2949339" cy="1981201"/>
          </a:xfrm>
        </p:spPr>
        <p:txBody>
          <a:bodyPr>
            <a:no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GB" sz="20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False negative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GB" sz="20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TXN-000409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GB" sz="20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Fraud. Score 92.08%.</a:t>
            </a:r>
          </a:p>
          <a:p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/>
            </a:pPr>
            <a:r>
              <a:rPr lang="en-GB" sz="20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Below 97% threshold.</a:t>
            </a:r>
            <a:endParaRPr lang="en-US" sz="1600" dirty="0">
              <a:latin typeface="Helvetica Neue" panose="02000503000000020004"/>
            </a:endParaRPr>
          </a:p>
        </p:txBody>
      </p:sp>
      <p:sp>
        <p:nvSpPr>
          <p:cNvPr id="2" name="Google Shape;303;p29">
            <a:extLst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/>
          <p:nvPr/>
        </p:nvSpPr>
        <p:spPr>
          <a:xfrm>
            <a:off x="8549658" y="2759697"/>
            <a:ext cx="230437" cy="256014"/>
          </a:xfrm>
          <a:custGeom>
            <a:avLst/>
            <a:gdLst/>
            <a:ahLst/>
            <a:cxnLst/>
            <a:rect l="l" t="t" r="r" b="b"/>
            <a:pathLst>
              <a:path w="20236" h="20115" extrusionOk="0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59850" tIns="59850" rIns="59850" bIns="59850" anchor="ctr" anchorCtr="0">
            <a:noAutofit/>
          </a:bodyPr>
          <a:lstStyle/>
          <a:p>
            <a:pPr algn="ctr">
              <a:buClr>
                <a:srgbClr val="FFFFFF"/>
              </a:buClr>
              <a:buSzPts val="3801"/>
            </a:pPr>
            <a:endParaRPr sz="3801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2" name="Google Shape;304;p29">
            <a:extLst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/>
          <p:nvPr/>
        </p:nvSpPr>
        <p:spPr>
          <a:xfrm>
            <a:off x="4632459" y="2759696"/>
            <a:ext cx="256014" cy="2560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 anchorCtr="0">
            <a:noAutofit/>
          </a:bodyPr>
          <a:lstStyle/>
          <a:p>
            <a:pPr algn="ctr">
              <a:buClr>
                <a:srgbClr val="FFFFFF"/>
              </a:buClr>
              <a:buSzPts val="3801"/>
            </a:pPr>
            <a:endParaRPr sz="3801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13" name="Google Shape;305;p29">
            <a:extLst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/>
          <p:nvPr/>
        </p:nvSpPr>
        <p:spPr>
          <a:xfrm>
            <a:off x="693808" y="2759696"/>
            <a:ext cx="256014" cy="256014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59850" tIns="59850" rIns="59850" bIns="59850" anchor="ctr" anchorCtr="0">
            <a:noAutofit/>
          </a:bodyPr>
          <a:lstStyle/>
          <a:p>
            <a:pPr algn="ctr">
              <a:buClr>
                <a:srgbClr val="FFFFFF"/>
              </a:buClr>
              <a:buSzPts val="3801"/>
            </a:pPr>
            <a:endParaRPr sz="3801">
              <a:solidFill>
                <a:srgbClr val="FFFFFF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  <a:sym typeface="Arial"/>
            </a:endParaRPr>
          </a:p>
        </p:txBody>
      </p:sp>
      <p:sp>
        <p:nvSpPr>
          <p:cNvPr id="14" name="Content Placeholder 15">
            <a:extLst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 txBox="1">
            <a:spLocks/>
          </p:cNvSpPr>
          <p:nvPr/>
        </p:nvSpPr>
        <p:spPr>
          <a:xfrm>
            <a:off x="400939" y="1037594"/>
            <a:ext cx="11404599" cy="1047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GB" sz="1800">
                <a:solidFill>
                  <a:prstClr val="black"/>
                </a:solidFill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curated sample overrepresents fraud and model errors. It does not reflect real prevalence. Scores are not calibrated probabilities.</a:t>
            </a:r>
            <a:endParaRPr lang="en-US" sz="1800" dirty="0">
              <a:solidFill>
                <a:prstClr val="black"/>
              </a:solidFill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EC570A5-080B-09FC-753D-21568175A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7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>
          <a:extLst>
            <a:ext uri="{FF2B5EF4-FFF2-40B4-BE49-F238E27FC236}">
              <a16:creationId xmlns:a16="http://schemas.microsoft.com/office/drawing/2014/main" id="{2E3F5CCB-83E1-E66E-1C80-EC9EB6E8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FFDA44ED-2B2F-C105-7D7D-E4658177E04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93700" y="2374900"/>
            <a:ext cx="5537200" cy="36195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159 of 211 frauds detected.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GB" sz="180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79.90% of flags were correct.</a:t>
            </a: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endParaRPr lang="en-GB" sz="180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  <a:p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 sz="1800"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SHAP labels follow the fitted feature order.</a:t>
            </a:r>
            <a:endParaRPr lang="en-US" sz="1800" dirty="0"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ABCF34BB-5640-4672-FD7F-6F84F74645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3700" y="344008"/>
            <a:ext cx="11404600" cy="1040291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-GB">
                <a:latin typeface="Helvetica Neue" panose="02000503000000020004"/>
              </a:rPr>
              <a:t>Evidence, limits, and the next study</a:t>
            </a:r>
            <a:endParaRPr dirty="0">
              <a:latin typeface="Helvetica Neue" panose="02000503000000020004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46137E5-AEE5-3117-B65E-F6CB8896F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8194EC-C78C-2EFE-6956-F359C5D3CE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/>
                <a:ea typeface="+mn-ea"/>
                <a:cs typeface="+mn-cs"/>
              </a:rPr>
              <a:t>8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/>
              <a:ea typeface="+mn-ea"/>
              <a:cs typeface="+mn-cs"/>
            </a:endParaRPr>
          </a:p>
        </p:txBody>
      </p:sp>
      <p:sp>
        <p:nvSpPr>
          <p:cNvPr id="8" name="Content Placeholder 15">
            <a:extLst>
              <a:ext uri="{FF2B5EF4-FFF2-40B4-BE49-F238E27FC236}">
                <a16:creationId xmlns:a16="http://schemas.microsoft.com/office/drawing/2014/main" id="{9FBD9FB5-CEB1-DE74-508A-B8814A28FF9B}"/>
              </a:ext>
            </a:extLst>
          </p:cNvPr>
          <p:cNvSpPr txBox="1">
            <a:spLocks/>
          </p:cNvSpPr>
          <p:nvPr/>
        </p:nvSpPr>
        <p:spPr>
          <a:xfrm>
            <a:off x="400939" y="1810684"/>
            <a:ext cx="5529961" cy="2213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500" b="1" i="0" u="none" strike="noStrike" kern="1200" cap="none" spc="100" normalizeH="0" baseline="0" noProof="0">
                <a:ln>
                  <a:noFill/>
                </a:ln>
                <a:solidFill>
                  <a:srgbClr val="175CD4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WHAT THE TEST SHOWS</a:t>
            </a:r>
            <a:endParaRPr kumimoji="0" lang="en-US" sz="1500" b="1" i="0" u="none" strike="noStrike" kern="1200" cap="none" spc="100" normalizeH="0" baseline="0" noProof="0" dirty="0">
              <a:ln>
                <a:noFill/>
              </a:ln>
              <a:solidFill>
                <a:srgbClr val="175CD4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9" name="Google Shape;534;p58">
            <a:extLst>
              <a:ext uri="{FF2B5EF4-FFF2-40B4-BE49-F238E27FC236}">
                <a16:creationId xmlns:a16="http://schemas.microsoft.com/office/drawing/2014/main" id="{07647231-C2F2-D9AD-E93B-483C88B8D074}"/>
              </a:ext>
            </a:extLst>
          </p:cNvPr>
          <p:cNvSpPr txBox="1">
            <a:spLocks/>
          </p:cNvSpPr>
          <p:nvPr/>
        </p:nvSpPr>
        <p:spPr>
          <a:xfrm>
            <a:off x="6257290" y="2374900"/>
            <a:ext cx="5537200" cy="3619500"/>
          </a:xfrm>
          <a:prstGeom prst="rect">
            <a:avLst/>
          </a:prstGeom>
        </p:spPr>
        <p:txBody>
          <a:bodyPr spcFirstLastPara="1" vert="horz" wrap="square" lIns="0" tIns="0" rIns="0" bIns="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The test partition influenced development.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GroupKFold did not preserve chronology.</a:t>
            </a: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Next: a fresh temporal holdout and calibration study.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  <p:sp>
        <p:nvSpPr>
          <p:cNvPr id="10" name="Content Placeholder 15">
            <a:extLst>
              <a:ext uri="{FF2B5EF4-FFF2-40B4-BE49-F238E27FC236}">
                <a16:creationId xmlns:a16="http://schemas.microsoft.com/office/drawing/2014/main" id="{74A8EF0B-1ADC-C26F-1C3D-741467203F77}"/>
              </a:ext>
            </a:extLst>
          </p:cNvPr>
          <p:cNvSpPr txBox="1">
            <a:spLocks/>
          </p:cNvSpPr>
          <p:nvPr/>
        </p:nvSpPr>
        <p:spPr>
          <a:xfrm>
            <a:off x="6264529" y="1810684"/>
            <a:ext cx="5529961" cy="2213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500" b="1" i="0" u="none" strike="noStrike" kern="1200" cap="none" spc="100" normalizeH="0" baseline="0" noProof="0">
                <a:ln>
                  <a:noFill/>
                </a:ln>
                <a:solidFill>
                  <a:srgbClr val="175CD4"/>
                </a:solidFill>
                <a:effectLst/>
                <a:uLnTx/>
                <a:uFillTx/>
                <a:latin typeface="Helvetica Neue" panose="02000503000000020004"/>
                <a:ea typeface="Helvetica Neue" panose="02000503000000020004" pitchFamily="2" charset="0"/>
                <a:cs typeface="Helvetica Neue" panose="02000503000000020004" pitchFamily="2" charset="0"/>
                <a:sym typeface="OpenAI Sans"/>
              </a:rPr>
              <a:t>WHAT I WOULD IMPROVE</a:t>
            </a:r>
            <a:endParaRPr kumimoji="0" lang="en-US" sz="1500" b="1" i="0" u="none" strike="noStrike" kern="1200" cap="none" spc="100" normalizeH="0" baseline="0" noProof="0" dirty="0">
              <a:ln>
                <a:noFill/>
              </a:ln>
              <a:solidFill>
                <a:srgbClr val="175CD4"/>
              </a:solidFill>
              <a:effectLst/>
              <a:uLnTx/>
              <a:uFillTx/>
              <a:latin typeface="Helvetica Neue" panose="02000503000000020004"/>
              <a:ea typeface="Helvetica Neue" panose="02000503000000020004" pitchFamily="2" charset="0"/>
              <a:cs typeface="Helvetica Neue" panose="02000503000000020004" pitchFamily="2" charset="0"/>
              <a:sym typeface="OpenAI Sans"/>
            </a:endParaRPr>
          </a:p>
        </p:txBody>
      </p:sp>
    </p:spTree>
    <p:extLst>
      <p:ext uri="{BB962C8B-B14F-4D97-AF65-F5344CB8AC3E}">
        <p14:creationId xmlns:p14="http://schemas.microsoft.com/office/powerpoint/2010/main" val="19330571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1869</TotalTime>
  <Words>364</Words>
  <Application>Microsoft Office PowerPoint</Application>
  <PresentationFormat>Widescreen</PresentationFormat>
  <Paragraphs>98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Helvetica Neue</vt:lpstr>
      <vt:lpstr>OpenAI Sans</vt:lpstr>
      <vt:lpstr>Default Codex Theme</vt:lpstr>
      <vt:lpstr>FraudLens Fraud Intelligence</vt:lpstr>
      <vt:lpstr>Fraud data and class imbalance</vt:lpstr>
      <vt:lpstr>How I built the model</vt:lpstr>
      <vt:lpstr>Baseline comparison</vt:lpstr>
      <vt:lpstr>Final model results</vt:lpstr>
      <vt:lpstr>FraudLens investigation workflow</vt:lpstr>
      <vt:lpstr>Three cases make errors visible</vt:lpstr>
      <vt:lpstr>Evidence, limits, and the next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>Dev Khanna</cp:lastModifiedBy>
  <cp:revision>1</cp:revision>
  <dcterms:modified xsi:type="dcterms:W3CDTF">2026-10-22T04:39:00Z</dcterms:modified>
</cp:coreProperties>
</file>